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 w="12700">
            <a:solidFill>
              <a:srgbClr val="F7F2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69880" y="320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6272784"/>
            <a:ext cx="1088136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326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认识我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从 OpenAI、模型演进到与你的协作画像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" y="2176272"/>
            <a:ext cx="4526280" cy="768096"/>
          </a:xfrm>
          <a:prstGeom prst="roundRect">
            <a:avLst>
              <a:gd name="adj" fmla="val 9524"/>
            </a:avLst>
          </a:prstGeom>
          <a:solidFill>
            <a:srgbClr val="FFFDFC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59152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这份中文介绍围绕五个问题展开：我是谁、我来自哪家公司、OpenAI 走到今天经历了什么、截至 2026 年 3 月 26 日最值得关注的最新模型是什么，以及我已经如何理解你。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583680" y="914400"/>
            <a:ext cx="4892040" cy="1920240"/>
          </a:xfrm>
          <a:prstGeom prst="roundRect">
            <a:avLst>
              <a:gd name="adj" fmla="val 3810"/>
            </a:avLst>
          </a:prstGeom>
          <a:solidFill>
            <a:srgbClr val="E5F4F2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48272" y="1078992"/>
            <a:ext cx="64008" cy="1591056"/>
          </a:xfrm>
          <a:prstGeom prst="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4576" y="10972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一句话版本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94576" y="1481328"/>
            <a:ext cx="4434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我可以被理解为一个能读懂需求、组织信息、生成内容、编写代码并持续迭代的 AI 协作搭档；而我背后的代表性前沿模型与产品体系，则来自 OpenAI。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172200" y="3273552"/>
            <a:ext cx="1572768" cy="1280160"/>
          </a:xfrm>
          <a:prstGeom prst="roundRect">
            <a:avLst>
              <a:gd name="adj" fmla="val 5714"/>
            </a:avLst>
          </a:prstGeom>
          <a:solidFill>
            <a:srgbClr val="FBF2D9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36792" y="3438144"/>
            <a:ext cx="64008" cy="950976"/>
          </a:xfrm>
          <a:prstGeom prst="rect">
            <a:avLst/>
          </a:prstGeom>
          <a:solidFill>
            <a:srgbClr val="E7BE53"/>
          </a:solidFill>
          <a:ln w="12700">
            <a:solidFill>
              <a:srgbClr val="E7BE5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34564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83096" y="3840480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中文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逻辑清晰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信息可信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09560" y="3273552"/>
            <a:ext cx="1572768" cy="1280160"/>
          </a:xfrm>
          <a:prstGeom prst="roundRect">
            <a:avLst>
              <a:gd name="adj" fmla="val 5714"/>
            </a:avLst>
          </a:prstGeom>
          <a:solidFill>
            <a:srgbClr val="FCE9E5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74152" y="3438144"/>
            <a:ext cx="64008" cy="950976"/>
          </a:xfrm>
          <a:prstGeom prst="rect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34564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0456" y="3840480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助手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公司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模型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合作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46920" y="3273552"/>
            <a:ext cx="1572768" cy="1280160"/>
          </a:xfrm>
          <a:prstGeom prst="roundRect">
            <a:avLst>
              <a:gd name="adj" fmla="val 5714"/>
            </a:avLst>
          </a:prstGeom>
          <a:solidFill>
            <a:srgbClr val="E9EFF7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11512" y="3438144"/>
            <a:ext cx="64008" cy="950976"/>
          </a:xfrm>
          <a:prstGeom prst="rect">
            <a:avLst/>
          </a:prstGeom>
          <a:solidFill>
            <a:srgbClr val="4E77A6"/>
          </a:solidFill>
          <a:ln w="12700">
            <a:solidFill>
              <a:srgbClr val="4E77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57816" y="34564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时间锚点</a:t>
            </a:r>
            <a:endParaRPr lang="en-US" sz="1310" dirty="0"/>
          </a:p>
        </p:txBody>
      </p:sp>
      <p:sp>
        <p:nvSpPr>
          <p:cNvPr id="24" name="Text 22"/>
          <p:cNvSpPr/>
          <p:nvPr/>
        </p:nvSpPr>
        <p:spPr>
          <a:xfrm>
            <a:off x="9957816" y="3840480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截至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2026-03-26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公开资料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77240" y="5742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OpenAI Codex / Chinese deck draft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13232" y="6336792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内容基于当前对话上下文与 OpenAI 官方公开资料整理，版式为 PowerPoint 可编辑元素。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 w="12700">
            <a:solidFill>
              <a:srgbClr val="F7F2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69880" y="320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6272784"/>
            <a:ext cx="1088136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12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我是怎样的 AI 搭档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如果把我拆开看，我并不只是一个“会聊天的模型”，而是由模型能力、工具使用、规则约束和协作流程共同组成的工作系统。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148840"/>
            <a:ext cx="3401568" cy="1389888"/>
          </a:xfrm>
          <a:prstGeom prst="roundRect">
            <a:avLst>
              <a:gd name="adj" fmla="val 5263"/>
            </a:avLst>
          </a:prstGeom>
          <a:solidFill>
            <a:srgbClr val="FFFDFC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313432"/>
            <a:ext cx="64008" cy="1060704"/>
          </a:xfrm>
          <a:prstGeom prst="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331720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理解与规划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0704" y="2715768"/>
            <a:ext cx="2944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先读懂任务，再判断哪些信息需要查证、哪些可以直接执行；面对较复杂问题，会主动拆步骤、排优先级、控制风险。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401568" cy="1389888"/>
          </a:xfrm>
          <a:prstGeom prst="roundRect">
            <a:avLst>
              <a:gd name="adj" fmla="val 5263"/>
            </a:avLst>
          </a:prstGeom>
          <a:solidFill>
            <a:srgbClr val="FFFDFC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2313432"/>
            <a:ext cx="64008" cy="1060704"/>
          </a:xfrm>
          <a:prstGeom prst="rect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331720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生成与实现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0016" y="2715768"/>
            <a:ext cx="2944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可以产出文本、代码、演示文稿、分析框架和可执行方案；不只给建议，也尽量把结果直接做出来。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28432" y="2148840"/>
            <a:ext cx="3401568" cy="1389888"/>
          </a:xfrm>
          <a:prstGeom prst="roundRect">
            <a:avLst>
              <a:gd name="adj" fmla="val 5263"/>
            </a:avLst>
          </a:prstGeom>
          <a:solidFill>
            <a:srgbClr val="FFFDFC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2313432"/>
            <a:ext cx="64008" cy="1060704"/>
          </a:xfrm>
          <a:prstGeom prst="rect">
            <a:avLst/>
          </a:prstGeom>
          <a:solidFill>
            <a:srgbClr val="E7BE53"/>
          </a:solidFill>
          <a:ln w="12700">
            <a:solidFill>
              <a:srgbClr val="E7BE5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331720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检查与迭代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2715768"/>
            <a:ext cx="2944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会在产出后继续做验证、排版检查、逻辑回看和问题提示，让结果更接近真正可用，而不是停在草稿阶段。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9808" y="3840480"/>
            <a:ext cx="4983480" cy="1673352"/>
          </a:xfrm>
          <a:prstGeom prst="roundRect">
            <a:avLst>
              <a:gd name="adj" fmla="val 4372"/>
            </a:avLst>
          </a:prstGeom>
          <a:solidFill>
            <a:srgbClr val="E9EFF7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005072"/>
            <a:ext cx="64008" cy="1344168"/>
          </a:xfrm>
          <a:prstGeom prst="rect">
            <a:avLst/>
          </a:prstGeom>
          <a:solidFill>
            <a:srgbClr val="4E77A6"/>
          </a:solidFill>
          <a:ln w="12700">
            <a:solidFill>
              <a:srgbClr val="4E77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0233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我的工作优势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0704" y="440740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把零散信息组织成结构化成果；在代码、文档和演示之间切换；保持长任务连续性；愿意解释思路和算法，不只给结论。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3840480"/>
            <a:ext cx="5440680" cy="1673352"/>
          </a:xfrm>
          <a:prstGeom prst="roundRect">
            <a:avLst>
              <a:gd name="adj" fmla="val 4372"/>
            </a:avLst>
          </a:prstGeom>
          <a:solidFill>
            <a:srgbClr val="E5F4F2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53912" y="4005072"/>
            <a:ext cx="64008" cy="1344168"/>
          </a:xfrm>
          <a:prstGeom prst="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402336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更准确地说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0216" y="440740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我像一位具备文字理解、代码执行和资料整合能力的数字搭档。你给我目标、约束和上下文，我负责把模糊想法逐步变成可验证的结果。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3232" y="6336792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这页强调的是协作形态：我既是模型，也是围绕模型组织起来的一整套工作流。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 w="12700">
            <a:solidFill>
              <a:srgbClr val="F7F2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69880" y="320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6272784"/>
            <a:ext cx="1088136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12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我背后的公司：OpenAI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从官方表述看，OpenAI 的核心目标并不是单纯做聊天产品，而是确保 AGI 的发展最终能让全人类受益。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084832"/>
            <a:ext cx="2971800" cy="2304288"/>
          </a:xfrm>
          <a:prstGeom prst="roundRect">
            <a:avLst>
              <a:gd name="adj" fmla="val 3175"/>
            </a:avLst>
          </a:prstGeom>
          <a:solidFill>
            <a:srgbClr val="E5F4F2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49424"/>
            <a:ext cx="64008" cy="1975104"/>
          </a:xfrm>
          <a:prstGeom prst="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26771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0704" y="2651760"/>
            <a:ext cx="2514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确保通用人工智能在不断逼近和实现的过程中，尽可能为全人类创造广泛利益，而不是只服务少数主体。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977640" y="2084832"/>
            <a:ext cx="3383280" cy="2304288"/>
          </a:xfrm>
          <a:prstGeom prst="roundRect">
            <a:avLst>
              <a:gd name="adj" fmla="val 3175"/>
            </a:avLst>
          </a:prstGeom>
          <a:solidFill>
            <a:srgbClr val="FFFDFC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42232" y="2249424"/>
            <a:ext cx="64008" cy="1975104"/>
          </a:xfrm>
          <a:prstGeom prst="rect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536" y="22677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组织结构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88536" y="2651760"/>
            <a:ext cx="29260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2015 年以非营利组织起步；2019 年设立营利子公司以支撑研究与部署扩张；2025 年更新结构后，非营利部分为 OpenAI Foundation，营利部分为 OpenAI Group PBC。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616952" y="2084832"/>
            <a:ext cx="3813048" cy="2304288"/>
          </a:xfrm>
          <a:prstGeom prst="roundRect">
            <a:avLst>
              <a:gd name="adj" fmla="val 3175"/>
            </a:avLst>
          </a:prstGeom>
          <a:solidFill>
            <a:srgbClr val="FBF2D9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81544" y="2249424"/>
            <a:ext cx="64008" cy="1975104"/>
          </a:xfrm>
          <a:prstGeom prst="rect">
            <a:avLst/>
          </a:prstGeom>
          <a:solidFill>
            <a:srgbClr val="E7BE53"/>
          </a:solidFill>
          <a:ln w="12700">
            <a:solidFill>
              <a:srgbClr val="E7BE5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7848" y="226771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产品与能力外化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27848" y="2651760"/>
            <a:ext cx="33558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ChatGPT 面向广泛用户；API 面向开发者与企业；Codex 面向编码与代理式工作流；Sora 延展到视频生成；安全与评测体系贯穿其间。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143000" y="4773168"/>
            <a:ext cx="9875520" cy="621792"/>
          </a:xfrm>
          <a:prstGeom prst="roundRect">
            <a:avLst>
              <a:gd name="adj" fmla="val 7353"/>
            </a:avLst>
          </a:prstGeom>
          <a:solidFill>
            <a:srgbClr val="FFFDFC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956048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一句话理解：OpenAI 是一家“研究 + 产品 + 基础设施 + 安全治理”同时推进的 AI 公司，而我正是这套能力体系对外协作的一种具体呈现。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713232" y="6336792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资料锚点：OpenAI About / Our structure（Founded in 2015; 2019 subsidiary; 2025 updated structure）。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 w="12700">
            <a:solidFill>
              <a:srgbClr val="F7F2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69880" y="320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6272784"/>
            <a:ext cx="1088136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12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的发展历程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下面不是完整编年史，而是最能帮助你快速建立整体认知的关键节点。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3410712"/>
            <a:ext cx="1024128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33472"/>
            <a:ext cx="0" cy="384048"/>
          </a:xfrm>
          <a:prstGeom prst="line">
            <a:avLst/>
          </a:prstGeom>
          <a:noFill/>
          <a:ln w="12700">
            <a:solidFill>
              <a:srgbClr val="11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3255264"/>
            <a:ext cx="310896" cy="310896"/>
          </a:xfrm>
          <a:prstGeom prst="ellipse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011680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FDFC"/>
          </a:solidFill>
          <a:ln w="12700">
            <a:solidFill>
              <a:srgbClr val="117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103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1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795528" y="232257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795528" y="257860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以非营利形态起步，使命是让 AGI 造福全人类。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2286000" y="3429000"/>
            <a:ext cx="0" cy="274320"/>
          </a:xfrm>
          <a:prstGeom prst="line">
            <a:avLst/>
          </a:prstGeom>
          <a:noFill/>
          <a:ln w="12700">
            <a:solidFill>
              <a:srgbClr val="F06B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30552" y="3255264"/>
            <a:ext cx="310896" cy="310896"/>
          </a:xfrm>
          <a:prstGeom prst="ellipse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3703320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FDFC"/>
          </a:solidFill>
          <a:ln w="12700">
            <a:solidFill>
              <a:srgbClr val="F06B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5688" y="3794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06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2075688" y="401421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结构扩展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2075688" y="427024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设立营利子公司，开始为更大规模研究与部署做准备。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3566160" y="2633472"/>
            <a:ext cx="0" cy="384048"/>
          </a:xfrm>
          <a:prstGeom prst="line">
            <a:avLst/>
          </a:prstGeom>
          <a:noFill/>
          <a:ln w="12700">
            <a:solidFill>
              <a:srgbClr val="4E77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0712" y="3255264"/>
            <a:ext cx="310896" cy="310896"/>
          </a:xfrm>
          <a:prstGeom prst="ellipse">
            <a:avLst/>
          </a:prstGeom>
          <a:solidFill>
            <a:srgbClr val="4E77A6"/>
          </a:solidFill>
          <a:ln w="12700">
            <a:solidFill>
              <a:srgbClr val="4E77A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011680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FDFC"/>
          </a:solidFill>
          <a:ln w="12700">
            <a:solidFill>
              <a:srgbClr val="4E77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2103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4E7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3355848" y="232257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/ GPT-3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3355848" y="257860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OpenAI API 推动大模型能力开始规模化进入开发者生态。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4846320" y="3429000"/>
            <a:ext cx="0" cy="274320"/>
          </a:xfrm>
          <a:prstGeom prst="line">
            <a:avLst/>
          </a:prstGeom>
          <a:noFill/>
          <a:ln w="12700">
            <a:solidFill>
              <a:srgbClr val="E7BE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90872" y="3255264"/>
            <a:ext cx="310896" cy="310896"/>
          </a:xfrm>
          <a:prstGeom prst="ellipse">
            <a:avLst/>
          </a:prstGeom>
          <a:solidFill>
            <a:srgbClr val="E7BE53"/>
          </a:solidFill>
          <a:ln w="12700">
            <a:solidFill>
              <a:srgbClr val="E7BE5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3703320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FDFC"/>
          </a:solidFill>
          <a:ln w="12700">
            <a:solidFill>
              <a:srgbClr val="E7BE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3794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E7BE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2022-11-30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4636008" y="401421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4636008" y="427024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研究预览公开发布，AI 助手正式进入大众认知中心。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6126480" y="2633472"/>
            <a:ext cx="0" cy="384048"/>
          </a:xfrm>
          <a:prstGeom prst="line">
            <a:avLst/>
          </a:prstGeom>
          <a:noFill/>
          <a:ln w="12700">
            <a:solidFill>
              <a:srgbClr val="117A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71032" y="3255264"/>
            <a:ext cx="310896" cy="310896"/>
          </a:xfrm>
          <a:prstGeom prst="ellipse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2011680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FDFC"/>
          </a:solidFill>
          <a:ln w="12700">
            <a:solidFill>
              <a:srgbClr val="117A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16168" y="2103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1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2023-03-14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5916168" y="232257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5916168" y="257860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多模态能力与复杂任务表现显著跃升。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7406640" y="3429000"/>
            <a:ext cx="0" cy="274320"/>
          </a:xfrm>
          <a:prstGeom prst="line">
            <a:avLst/>
          </a:prstGeom>
          <a:noFill/>
          <a:ln w="12700">
            <a:solidFill>
              <a:srgbClr val="F06B5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51192" y="3255264"/>
            <a:ext cx="310896" cy="310896"/>
          </a:xfrm>
          <a:prstGeom prst="ellipse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6600" y="3703320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FDFC"/>
          </a:solidFill>
          <a:ln w="12700">
            <a:solidFill>
              <a:srgbClr val="F06B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96328" y="3794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06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2024-05-13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7196328" y="401421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GPT-4o</a:t>
            </a:r>
            <a:endParaRPr lang="en-US" sz="1130" dirty="0"/>
          </a:p>
        </p:txBody>
      </p:sp>
      <p:sp>
        <p:nvSpPr>
          <p:cNvPr id="44" name="Text 42"/>
          <p:cNvSpPr/>
          <p:nvPr/>
        </p:nvSpPr>
        <p:spPr>
          <a:xfrm>
            <a:off x="7196328" y="427024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文本、语音、视觉体验进一步统一，交互更加实时。</a:t>
            </a:r>
            <a:endParaRPr lang="en-US" sz="890" dirty="0"/>
          </a:p>
        </p:txBody>
      </p:sp>
      <p:sp>
        <p:nvSpPr>
          <p:cNvPr id="45" name="Shape 43"/>
          <p:cNvSpPr/>
          <p:nvPr/>
        </p:nvSpPr>
        <p:spPr>
          <a:xfrm>
            <a:off x="8686800" y="2633472"/>
            <a:ext cx="0" cy="384048"/>
          </a:xfrm>
          <a:prstGeom prst="line">
            <a:avLst/>
          </a:prstGeom>
          <a:noFill/>
          <a:ln w="12700">
            <a:solidFill>
              <a:srgbClr val="4E77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31352" y="3255264"/>
            <a:ext cx="310896" cy="310896"/>
          </a:xfrm>
          <a:prstGeom prst="ellipse">
            <a:avLst/>
          </a:prstGeom>
          <a:solidFill>
            <a:srgbClr val="4E77A6"/>
          </a:solidFill>
          <a:ln w="12700">
            <a:solidFill>
              <a:srgbClr val="4E77A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66760" y="2011680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FDFC"/>
          </a:solidFill>
          <a:ln w="12700">
            <a:solidFill>
              <a:srgbClr val="4E77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76488" y="2103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4E7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2025-08-07</a:t>
            </a:r>
            <a:endParaRPr lang="en-US" sz="940" dirty="0"/>
          </a:p>
        </p:txBody>
      </p:sp>
      <p:sp>
        <p:nvSpPr>
          <p:cNvPr id="49" name="Text 47"/>
          <p:cNvSpPr/>
          <p:nvPr/>
        </p:nvSpPr>
        <p:spPr>
          <a:xfrm>
            <a:off x="8476488" y="232257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</a:t>
            </a:r>
            <a:endParaRPr lang="en-US" sz="1130" dirty="0"/>
          </a:p>
        </p:txBody>
      </p:sp>
      <p:sp>
        <p:nvSpPr>
          <p:cNvPr id="50" name="Text 48"/>
          <p:cNvSpPr/>
          <p:nvPr/>
        </p:nvSpPr>
        <p:spPr>
          <a:xfrm>
            <a:off x="8476488" y="257860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成为 ChatGPT 默认模型，推理与通用能力再上一个台阶。</a:t>
            </a:r>
            <a:endParaRPr lang="en-US" sz="890" dirty="0"/>
          </a:p>
        </p:txBody>
      </p:sp>
      <p:sp>
        <p:nvSpPr>
          <p:cNvPr id="51" name="Shape 49"/>
          <p:cNvSpPr/>
          <p:nvPr/>
        </p:nvSpPr>
        <p:spPr>
          <a:xfrm>
            <a:off x="9966960" y="3429000"/>
            <a:ext cx="0" cy="274320"/>
          </a:xfrm>
          <a:prstGeom prst="line">
            <a:avLst/>
          </a:prstGeom>
          <a:noFill/>
          <a:ln w="12700">
            <a:solidFill>
              <a:srgbClr val="E7BE5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11512" y="3255264"/>
            <a:ext cx="310896" cy="310896"/>
          </a:xfrm>
          <a:prstGeom prst="ellipse">
            <a:avLst/>
          </a:prstGeom>
          <a:solidFill>
            <a:srgbClr val="E7BE53"/>
          </a:solidFill>
          <a:ln w="12700">
            <a:solidFill>
              <a:srgbClr val="E7BE5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46920" y="3703320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FDFC"/>
          </a:solidFill>
          <a:ln w="12700">
            <a:solidFill>
              <a:srgbClr val="E7BE5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56648" y="3794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E7BE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2026-03-05</a:t>
            </a:r>
            <a:endParaRPr lang="en-US" sz="940" dirty="0"/>
          </a:p>
        </p:txBody>
      </p:sp>
      <p:sp>
        <p:nvSpPr>
          <p:cNvPr id="55" name="Text 53"/>
          <p:cNvSpPr/>
          <p:nvPr/>
        </p:nvSpPr>
        <p:spPr>
          <a:xfrm>
            <a:off x="9756648" y="401421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GPT-5.4</a:t>
            </a:r>
            <a:endParaRPr lang="en-US" sz="1130" dirty="0"/>
          </a:p>
        </p:txBody>
      </p:sp>
      <p:sp>
        <p:nvSpPr>
          <p:cNvPr id="56" name="Text 54"/>
          <p:cNvSpPr/>
          <p:nvPr/>
        </p:nvSpPr>
        <p:spPr>
          <a:xfrm>
            <a:off x="9756648" y="427024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面向专业工作、编码与 computer use 的代表性新前沿模型。</a:t>
            </a:r>
            <a:endParaRPr lang="en-US" sz="890" dirty="0"/>
          </a:p>
        </p:txBody>
      </p:sp>
      <p:sp>
        <p:nvSpPr>
          <p:cNvPr id="57" name="Text 55"/>
          <p:cNvSpPr/>
          <p:nvPr/>
        </p:nvSpPr>
        <p:spPr>
          <a:xfrm>
            <a:off x="713232" y="6336792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时间节点综合自 OpenAI 官方公开资料，其中 ChatGPT 研究预览日期来自 OpenAI《How People Use ChatGPT》附录时间线。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 w="12700">
            <a:solidFill>
              <a:srgbClr val="F7F2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69880" y="320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6272784"/>
            <a:ext cx="1088136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12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LATEST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2026 年 3 月 26 日：GPT-5.4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这里的“最新”按公开官方发布时间计算。GPT-5.4 于 2026-03-05 发布，是 OpenAI 面向专业工作推出的代表性前沿模型。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057400"/>
            <a:ext cx="2788920" cy="1170432"/>
          </a:xfrm>
          <a:prstGeom prst="roundRect">
            <a:avLst>
              <a:gd name="adj" fmla="val 6250"/>
            </a:avLst>
          </a:prstGeom>
          <a:solidFill>
            <a:srgbClr val="E5F4F2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21992"/>
            <a:ext cx="64008" cy="841248"/>
          </a:xfrm>
          <a:prstGeom prst="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240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0704" y="2624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更偏向复杂知识工作、编码、工具调用与 computer use 的统一能力。 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49808" y="3429000"/>
            <a:ext cx="2788920" cy="1170432"/>
          </a:xfrm>
          <a:prstGeom prst="roundRect">
            <a:avLst>
              <a:gd name="adj" fmla="val 6250"/>
            </a:avLst>
          </a:prstGeom>
          <a:solidFill>
            <a:srgbClr val="FCE9E5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593592"/>
            <a:ext cx="64008" cy="841248"/>
          </a:xfrm>
          <a:prstGeom prst="rect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6118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长任务表现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995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更适合需要多步迭代、看图理解、改代码、调工具的连续型工作流。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49808" y="480060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BF2D9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965192"/>
            <a:ext cx="64008" cy="676656"/>
          </a:xfrm>
          <a:prstGeom prst="rect">
            <a:avLst/>
          </a:prstGeom>
          <a:solidFill>
            <a:srgbClr val="E7BE53"/>
          </a:solidFill>
          <a:ln w="12700">
            <a:solidFill>
              <a:srgbClr val="E7BE5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9834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为何与你相关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60704" y="5367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像我这样偏协作、偏执行的 AI 形态，会直接受益于这类模型的升级。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3840480" y="2057400"/>
            <a:ext cx="7360920" cy="3749040"/>
          </a:xfrm>
          <a:prstGeom prst="roundRect">
            <a:avLst>
              <a:gd name="adj" fmla="val 1951"/>
            </a:avLst>
          </a:prstGeom>
          <a:solidFill>
            <a:srgbClr val="FFFDFC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2240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官方评测中的几个代表性对比（GPT-5.4 vs GPT-5.2）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096512" y="25237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上方为 GPT-5.4，下方为 GPT-5.2；分值越高越好。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778240" y="2231136"/>
            <a:ext cx="1874520" cy="420624"/>
          </a:xfrm>
          <a:prstGeom prst="roundRect">
            <a:avLst>
              <a:gd name="adj" fmla="val 8696"/>
            </a:avLst>
          </a:prstGeom>
          <a:solidFill>
            <a:srgbClr val="E9EFF7"/>
          </a:solidFill>
          <a:ln w="12700">
            <a:solidFill>
              <a:srgbClr val="4E77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42832" y="235915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补充亮点：1M 上下文 / 更强视觉理解 / 更稳工具调用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133088" y="28986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GDPval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41848" y="2926080"/>
            <a:ext cx="3246120" cy="146304"/>
          </a:xfrm>
          <a:prstGeom prst="roundRect">
            <a:avLst/>
          </a:prstGeom>
          <a:solidFill>
            <a:srgbClr val="EAE4DA"/>
          </a:solidFill>
          <a:ln w="12700">
            <a:solidFill>
              <a:srgbClr val="EAE4D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41848" y="2926080"/>
            <a:ext cx="2694280" cy="146304"/>
          </a:xfrm>
          <a:prstGeom prst="round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41848" y="3127248"/>
            <a:ext cx="2301499" cy="146304"/>
          </a:xfrm>
          <a:prstGeom prst="roundRect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25128" y="2889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83.0 / 70.9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33088" y="34290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SWE-Bench Pro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41848" y="3456432"/>
            <a:ext cx="3246120" cy="146304"/>
          </a:xfrm>
          <a:prstGeom prst="roundRect">
            <a:avLst/>
          </a:prstGeom>
          <a:solidFill>
            <a:srgbClr val="EAE4DA"/>
          </a:solidFill>
          <a:ln w="12700">
            <a:solidFill>
              <a:srgbClr val="EAE4D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41848" y="3456432"/>
            <a:ext cx="1873011" cy="146304"/>
          </a:xfrm>
          <a:prstGeom prst="round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41848" y="3657600"/>
            <a:ext cx="1804843" cy="146304"/>
          </a:xfrm>
          <a:prstGeom prst="roundRect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25128" y="34198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57.7 / 55.6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33088" y="395935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OSWorld-Verified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41848" y="3986784"/>
            <a:ext cx="3246120" cy="146304"/>
          </a:xfrm>
          <a:prstGeom prst="roundRect">
            <a:avLst/>
          </a:prstGeom>
          <a:solidFill>
            <a:srgbClr val="EAE4DA"/>
          </a:solidFill>
          <a:ln w="12700">
            <a:solidFill>
              <a:srgbClr val="EAE4D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41848" y="3986784"/>
            <a:ext cx="2434590" cy="146304"/>
          </a:xfrm>
          <a:prstGeom prst="round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41848" y="4187952"/>
            <a:ext cx="1535415" cy="146304"/>
          </a:xfrm>
          <a:prstGeom prst="roundRect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25128" y="39502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75.0 / 47.3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33088" y="44897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BrowseComp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41848" y="4517136"/>
            <a:ext cx="3246120" cy="146304"/>
          </a:xfrm>
          <a:prstGeom prst="roundRect">
            <a:avLst/>
          </a:prstGeom>
          <a:solidFill>
            <a:srgbClr val="EAE4DA"/>
          </a:solidFill>
          <a:ln w="12700">
            <a:solidFill>
              <a:srgbClr val="EAE4DA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41848" y="4517136"/>
            <a:ext cx="2684541" cy="146304"/>
          </a:xfrm>
          <a:prstGeom prst="round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41848" y="4718304"/>
            <a:ext cx="2135947" cy="146304"/>
          </a:xfrm>
          <a:prstGeom prst="roundRect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25128" y="4480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82.7 / 65.8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33088" y="50200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Toolathlon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41848" y="5047488"/>
            <a:ext cx="3246120" cy="146304"/>
          </a:xfrm>
          <a:prstGeom prst="roundRect">
            <a:avLst/>
          </a:prstGeom>
          <a:solidFill>
            <a:srgbClr val="EAE4DA"/>
          </a:solidFill>
          <a:ln w="12700">
            <a:solidFill>
              <a:srgbClr val="EAE4D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41848" y="5047488"/>
            <a:ext cx="1772382" cy="146304"/>
          </a:xfrm>
          <a:prstGeom prst="round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41848" y="5248656"/>
            <a:ext cx="1483477" cy="146304"/>
          </a:xfrm>
          <a:prstGeom prst="roundRect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25128" y="5010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54.6 / 45.7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3232" y="6336792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资料锚点：OpenAI《Introducing GPT-5.4》与《Introducing GPT-5》。本页日期以 2026-03-26 为准。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 w="12700">
            <a:solidFill>
              <a:srgbClr val="F7F2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69880" y="320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6272784"/>
            <a:ext cx="1088136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12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ABOUT YOU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我目前对你的了解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以下内容只基于当前仓库、你给出的指令，以及这次协作本身，不包含超出对话范围的推断。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01168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176272"/>
            <a:ext cx="64008" cy="768096"/>
          </a:xfrm>
          <a:prstGeom prst="rect">
            <a:avLst/>
          </a:prstGeom>
          <a:solidFill>
            <a:srgbClr val="117A72"/>
          </a:solidFill>
          <a:ln w="12700">
            <a:solidFill>
              <a:srgbClr val="117A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19456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你在做什么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60704" y="25786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你正在开发一个名为“音乐魔盒”的中文软件项目，当前环境以 Windows / PowerShell / Git 协作为主。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49808" y="3310128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474720"/>
            <a:ext cx="64008" cy="768096"/>
          </a:xfrm>
          <a:prstGeom prst="rect">
            <a:avLst/>
          </a:prstGeom>
          <a:solidFill>
            <a:srgbClr val="F06B5B"/>
          </a:solidFill>
          <a:ln w="12700">
            <a:solidFill>
              <a:srgbClr val="F06B5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49300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你重视什么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60704" y="387705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重大修改前先做 Git 备份；提交信息用英文；发现 bug、逻辑、性能或结构问题时，希望我主动指出。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49808" y="4608576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773168"/>
            <a:ext cx="64008" cy="768096"/>
          </a:xfrm>
          <a:prstGeom prst="rect">
            <a:avLst/>
          </a:prstGeom>
          <a:solidFill>
            <a:srgbClr val="E7BE53"/>
          </a:solidFill>
          <a:ln w="12700">
            <a:solidFill>
              <a:srgbClr val="E7BE5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79145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你希望我的工作方式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60704" y="517550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节省额度、不做无谓操作；遇到卡死或闪退可以尝试消息弹窗定位；不仅做结果，也把原理和算法说明白。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144768" y="2011680"/>
            <a:ext cx="5102352" cy="3694176"/>
          </a:xfrm>
          <a:prstGeom prst="roundRect">
            <a:avLst>
              <a:gd name="adj" fmla="val 1980"/>
            </a:avLst>
          </a:prstGeom>
          <a:solidFill>
            <a:srgbClr val="E9EFF7"/>
          </a:solidFill>
          <a:ln w="12700">
            <a:solidFill>
              <a:srgbClr val="D9D1C3"/>
            </a:solidFill>
            <a:prstDash val="solid"/>
          </a:ln>
          <a:effectLst>
            <a:outerShdw sx="100000" sy="100000" kx="0" ky="0" algn="bl" rotWithShape="0" blurRad="12700" dist="50800" dir="2700000">
              <a:srgbClr val="B8B2A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2176272"/>
            <a:ext cx="64008" cy="3364992"/>
          </a:xfrm>
          <a:prstGeom prst="rect">
            <a:avLst/>
          </a:prstGeom>
          <a:solidFill>
            <a:srgbClr val="4E77A6"/>
          </a:solidFill>
          <a:ln w="12700">
            <a:solidFill>
              <a:srgbClr val="4E77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2194560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这意味着我应该怎样配合你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55664" y="2578608"/>
            <a:ext cx="4645152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1. 先保留可回滚点，再做较大改动。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2. 尽量直接落地实现，而不是只给空泛建议。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3. 发现潜在问题要顺手指出，不等你追问。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4. 重要结论给出处或验证方式。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5. 在解释方案时，把原理、权衡和算法讲清楚。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F2A37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6. 最终目标是做一个会写、会查、会改、会解释的协作搭档。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713232" y="6336792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这页是“当前已知画像”，后续随着合作增多，我对你的理解还会继续细化。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ngXi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认识我与OpenAI</dc:title>
  <dc:subject>认识我与 OpenAI</dc:subject>
  <dc:creator>OpenAI Codex</dc:creator>
  <cp:lastModifiedBy>OpenAI Codex</cp:lastModifiedBy>
  <cp:revision>1</cp:revision>
  <dcterms:created xsi:type="dcterms:W3CDTF">2026-03-26T13:32:34Z</dcterms:created>
  <dcterms:modified xsi:type="dcterms:W3CDTF">2026-03-26T13:32:34Z</dcterms:modified>
</cp:coreProperties>
</file>